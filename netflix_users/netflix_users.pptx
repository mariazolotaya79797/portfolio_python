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0" r:id="rId3"/>
    <p:sldId id="257" r:id="rId4"/>
    <p:sldId id="262" r:id="rId5"/>
    <p:sldId id="261" r:id="rId6"/>
    <p:sldId id="264" r:id="rId7"/>
    <p:sldId id="263" r:id="rId8"/>
    <p:sldId id="266" r:id="rId9"/>
    <p:sldId id="265" r:id="rId10"/>
    <p:sldId id="268" r:id="rId11"/>
    <p:sldId id="267" r:id="rId12"/>
    <p:sldId id="270" r:id="rId13"/>
    <p:sldId id="269" r:id="rId14"/>
    <p:sldId id="271" r:id="rId15"/>
    <p:sldId id="259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FF"/>
    <a:srgbClr val="003366"/>
    <a:srgbClr val="0000CC"/>
    <a:srgbClr val="CCFF33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7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56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23A829-40A8-B9EA-29EE-CE194CB00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654C98-A616-ACF2-EA4D-F42992750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990979-08DE-2B6E-8207-926148B40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FFBCAED-4A15-352B-6F1A-E80999150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63255D-6420-FA08-B8E2-185D464A0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617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0F4F7-7F68-6157-ED23-893FA4BDC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0DF71A-E2E9-50D6-235E-6FC9E705A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A4C67E-9278-26BA-FAC3-FF82B2C88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4CDAD6F-714E-0B83-9CAF-73F48C81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F795060-39C0-1667-88CB-03216CB97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803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29E99-A655-2F01-8CC0-E545FA1A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16110CC-55F2-97E0-2EDA-F4CA38DAB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20273B-F0AB-E53F-FAEE-D73C23F3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8433F7-739A-86EC-9743-2C96E29A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D1C0DD2-EE2B-8234-A846-86AEA8F9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50447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A97CF-D0B3-D0FF-5AE0-7FD18E9C7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1B00C7-87DE-A142-9595-CEA4FDF800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782289-02F2-E553-4C07-1FCCE833BA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548DDE-7CB6-D2A5-4A29-6E09F97A2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95595B-8BA4-88B3-E450-9410B630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19A4B60-528F-310C-FD69-3A8B253E8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684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81BBB2-FF31-602F-D685-1E11F6C81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974108-7AAD-C00D-1E01-F777EFA63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24C338-B50B-F101-CB5C-828AA7386E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7598BA2-87C2-F9E6-7AD3-32CD0EE4F0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91F17F5-59ED-ECD5-02A2-328ECB60A0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C44F2A4-CBAD-4FAB-03B5-767FED86C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D1AAA1D-8F05-F915-A712-631FF03EF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D88158-8245-5F09-F017-CEBBF5875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500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0C8383-4FBE-2E8D-749D-95A4BD7D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8A9727-E124-458A-2F72-9BC6572BF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D49717C-44DC-4B1B-1353-7BB2FA9CA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898CD9D-A24E-88AF-669A-3383B6359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4774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65F0FE-25D0-DAD5-82CE-CBB31705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490C29A-9F42-B508-CA98-06D968236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19FD73-EEDA-5291-8450-BA8BC811B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142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131633-D848-CE8A-C20B-50E58D35C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DF37A2-6D97-2144-F6FB-60CF55214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C0FF93-70FA-35E9-8CEB-DC075241F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F9D39AE-CDB3-923B-EC20-145C06DB0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5E2188-D774-8E09-6EDD-14590AC13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7936A69-04CE-147A-8EDD-9588C32F7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252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62EF56-7851-5B1A-33C9-8BB62CC8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F64F29-554C-9881-B976-5DC61BCCF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EB2F57E-71E6-8224-C5CE-B118F2841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9FC32C5-679C-F893-3647-B9748D2E3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1BADCA-75DB-11F7-D707-7F6C62FDE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F50B06C-B33A-3590-6D16-C6E0B4673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424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746A8C-5DCD-4129-5B27-6CADE8F76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5CF38F-FC76-EA53-927E-5B821AEA9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4D4FB5-23E0-10FF-9898-8D38F6E67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CFAC55-9732-37CA-073A-834CF9C50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0F5513-8304-79D0-4F21-E08937FB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3031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51B43A5-AF13-465D-79FD-AC686E4DCF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84230ED-3A69-26AD-E3E3-B5399B076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C995B7-4831-3CD3-3B22-1271EF9E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7C32FF-4030-55CE-B5F2-83648F464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7FC967-1909-43F5-E243-BD6C28D18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05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F7028A-CDB3-9D65-AEB1-5CFB4452F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171412-8796-B897-DF80-DD4F3D7E3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944928-A074-1FCC-819A-1565410501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203FC0-5122-46CC-9B85-57D5FC50AA87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1A1F52-5257-9158-B500-9C000DFF6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6FBC9A-B7A5-6A36-A8F9-91505841BA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6D874-4104-41EF-81E2-B881DEE1032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3705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icture background">
            <a:extLst>
              <a:ext uri="{FF2B5EF4-FFF2-40B4-BE49-F238E27FC236}">
                <a16:creationId xmlns:a16="http://schemas.microsoft.com/office/drawing/2014/main" id="{49AFD299-5BA0-9B1E-B192-3B2EC3D4A6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6D636F-242C-03A3-09CB-E0AAFB592E44}"/>
              </a:ext>
            </a:extLst>
          </p:cNvPr>
          <p:cNvSpPr/>
          <p:nvPr/>
        </p:nvSpPr>
        <p:spPr>
          <a:xfrm>
            <a:off x="2796988" y="0"/>
            <a:ext cx="9233647" cy="322729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7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</a:t>
            </a:r>
            <a:r>
              <a:rPr lang="en-US" sz="7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7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онлайн-сервиса </a:t>
            </a:r>
            <a:endParaRPr lang="en-US" sz="7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7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Netflix</a:t>
            </a:r>
            <a:endParaRPr lang="ru-RU" sz="7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  <a:reflection blurRad="6350" stA="55000" endA="300" endPos="455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6FF0F1-FD23-5F84-7082-87823F208CEF}"/>
              </a:ext>
            </a:extLst>
          </p:cNvPr>
          <p:cNvSpPr txBox="1"/>
          <p:nvPr/>
        </p:nvSpPr>
        <p:spPr>
          <a:xfrm>
            <a:off x="251011" y="6211669"/>
            <a:ext cx="5091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выполнила Коробкова Мария</a:t>
            </a:r>
          </a:p>
          <a:p>
            <a:r>
              <a:rPr lang="ru-RU" sz="1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в рамках курса по анализу данных  </a:t>
            </a:r>
          </a:p>
        </p:txBody>
      </p:sp>
    </p:spTree>
    <p:extLst>
      <p:ext uri="{BB962C8B-B14F-4D97-AF65-F5344CB8AC3E}">
        <p14:creationId xmlns:p14="http://schemas.microsoft.com/office/powerpoint/2010/main" val="1481267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22C6399-A0F3-E5D1-D471-CD0168F0703B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возраста пользователей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6F78D78-05E9-EB03-D4D0-2C0E9490B4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78" y="735106"/>
            <a:ext cx="7440063" cy="571579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DF5CF00-8CF2-42A4-FE47-E814CE8FB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200" y="1721224"/>
            <a:ext cx="4762722" cy="369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3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E4278F-60D0-9232-5FDF-FAD618093846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возраста пользователей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95C8448-862E-8CC9-9E62-D839D3B258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35105"/>
            <a:ext cx="8480612" cy="612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D61A73-2536-15DB-8406-54A18DA1A778}"/>
              </a:ext>
            </a:extLst>
          </p:cNvPr>
          <p:cNvSpPr/>
          <p:nvPr/>
        </p:nvSpPr>
        <p:spPr>
          <a:xfrm>
            <a:off x="8480612" y="735105"/>
            <a:ext cx="3711388" cy="6122895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возраста демонстрирует высокую симметрию (среднее 38.8 и медиана 39.0 практически совпадают), при этом мода (30 лет) указывает на небольшой пик молодой возрастной группы в левой части распределения. Узкий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межквартильный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размах (IQR = 13 лет) и отсутствие выбросов в </a:t>
            </a:r>
            <a:r>
              <a:rPr lang="ru-RU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boxplot</a:t>
            </a:r>
            <a:r>
              <a:rPr lang="ru-RU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подтверждают компактное сосредоточение 50% данных в диапазоне 32–45 лет, что свидетельствует об однородности выборки.</a:t>
            </a:r>
          </a:p>
        </p:txBody>
      </p:sp>
    </p:spTree>
    <p:extLst>
      <p:ext uri="{BB962C8B-B14F-4D97-AF65-F5344CB8AC3E}">
        <p14:creationId xmlns:p14="http://schemas.microsoft.com/office/powerpoint/2010/main" val="3667009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CBBDD3-F0FF-43ED-A2E5-71604688C1EF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Девайсы пользователей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F02626B-FB65-7997-78CA-257382FCB6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246" y="735106"/>
            <a:ext cx="8950569" cy="612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4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9844BDE2-87B7-56E3-15D3-7F9896E0C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94694"/>
            <a:ext cx="10023231" cy="4202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9CBD623-39C8-0CB2-E897-809F8DA42242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Девайсы пользователей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8C604A0-C452-14F3-D4E8-E9A705A4A6D0}"/>
              </a:ext>
            </a:extLst>
          </p:cNvPr>
          <p:cNvSpPr/>
          <p:nvPr/>
        </p:nvSpPr>
        <p:spPr>
          <a:xfrm>
            <a:off x="10023231" y="735106"/>
            <a:ext cx="2168769" cy="6122894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пользователей по устройствам демонстрирует равномерность: доли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Laptop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(25.4%), Tablet (25.3%), </a:t>
            </a:r>
            <a:r>
              <a:rPr lang="ru-RU" sz="2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Smartphone</a:t>
            </a:r>
            <a:r>
              <a:rPr lang="ru-RU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(24.8%) и Smart TV (24.4%) сбалансированы, с разрывом в 1 процентный пункт между лидером и аутсайдером.</a:t>
            </a:r>
          </a:p>
        </p:txBody>
      </p:sp>
    </p:spTree>
    <p:extLst>
      <p:ext uri="{BB962C8B-B14F-4D97-AF65-F5344CB8AC3E}">
        <p14:creationId xmlns:p14="http://schemas.microsoft.com/office/powerpoint/2010/main" val="3079048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B5A43E9-409F-AD7B-E285-3C3664AED9AE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Тип подписки пользователей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14C6C4F-DCA2-54DE-FE39-8F6951795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523" y="967154"/>
            <a:ext cx="8104061" cy="520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8450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842B1CF7-DAD4-2EB7-A6F1-606D4AC6C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3092" y="1223475"/>
            <a:ext cx="9988062" cy="4438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B903DD-77BD-005A-66C1-06C91EA8CE16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Тип подписки пользователей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83AEE32-F79B-81B2-14A6-3B1D37FCAE99}"/>
              </a:ext>
            </a:extLst>
          </p:cNvPr>
          <p:cNvSpPr/>
          <p:nvPr/>
        </p:nvSpPr>
        <p:spPr>
          <a:xfrm>
            <a:off x="9864970" y="735106"/>
            <a:ext cx="2327031" cy="6122894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пользователей по типам подписки характеризует доминирование базового тарифа (40.0%, 999 человек), при этом премиум-подписка (29.3%, 733 человека) и стандартная (30.7%, 768 человек) имеют близкие доли и указывают на сбалансированный спрос между тарифными планами.</a:t>
            </a:r>
          </a:p>
        </p:txBody>
      </p:sp>
    </p:spTree>
    <p:extLst>
      <p:ext uri="{BB962C8B-B14F-4D97-AF65-F5344CB8AC3E}">
        <p14:creationId xmlns:p14="http://schemas.microsoft.com/office/powerpoint/2010/main" val="655986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5CD3197-54EF-770D-B99C-694301FC4AF0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Локация пользователей 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A6F13E-A45B-B728-D937-B0975EF45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737" y="735106"/>
            <a:ext cx="7280031" cy="590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>
            <a:extLst>
              <a:ext uri="{FF2B5EF4-FFF2-40B4-BE49-F238E27FC236}">
                <a16:creationId xmlns:a16="http://schemas.microsoft.com/office/drawing/2014/main" id="{E3013575-E62C-4096-5040-7F84DF2C76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43501"/>
            <a:ext cx="10040815" cy="4370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57ABBA-797B-68CE-843A-1BE6CA1D76F6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Локация пользователей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764BF6D-F9E6-1806-EAE9-75C5BE20E124}"/>
              </a:ext>
            </a:extLst>
          </p:cNvPr>
          <p:cNvSpPr/>
          <p:nvPr/>
        </p:nvSpPr>
        <p:spPr>
          <a:xfrm>
            <a:off x="10040815" y="735106"/>
            <a:ext cx="2151185" cy="6122894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Географическое распределение пользователей доминирует США и Испании (по 18.0% от общей аудитории) и подчеркивает статус ключевых рынков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32074609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7724735-7156-030C-D72C-11F158224CE5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выручки сервиса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3FF071-C197-7846-4304-A42D7873EF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5106"/>
            <a:ext cx="5788742" cy="561100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9D522DF-1004-2849-C547-69CA163720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3257" y="735106"/>
            <a:ext cx="5788742" cy="612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91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9C25B33D-53E6-8F88-A637-B6FF68B8E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44" y="899574"/>
            <a:ext cx="9296217" cy="5800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DF9BBD-ADCD-A1BD-8204-EE818EE625F4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выручки сервиса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7E1D42-534C-5205-58E5-A4551062D853}"/>
              </a:ext>
            </a:extLst>
          </p:cNvPr>
          <p:cNvSpPr/>
          <p:nvPr/>
        </p:nvSpPr>
        <p:spPr>
          <a:xfrm>
            <a:off x="9829800" y="735106"/>
            <a:ext cx="2362200" cy="6122894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Динамика выручки демонстрирует рост до декабря 2022 года (пик в 24 800 у.е.), после чего наблюдается стабилизация на уровне 30 000 – 33 000 у.е. в течение полугода и указывает на успешное удержание клиентской базы и эффективность маркетинговых стратегий.</a:t>
            </a:r>
          </a:p>
        </p:txBody>
      </p:sp>
    </p:spTree>
    <p:extLst>
      <p:ext uri="{BB962C8B-B14F-4D97-AF65-F5344CB8AC3E}">
        <p14:creationId xmlns:p14="http://schemas.microsoft.com/office/powerpoint/2010/main" val="1129928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87374F9-3403-334F-CF97-F85CB4B1FA89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самой платежеспособной группы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DA0A9D7-9831-7DF8-BA56-427640019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8" y="1208614"/>
            <a:ext cx="6096001" cy="491427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9596D80-D811-D411-FD53-2FF26343E9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35106"/>
            <a:ext cx="6096000" cy="612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96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FAD7D309-E1A6-2E57-F34E-B8DAB37593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8320"/>
            <a:ext cx="9970477" cy="499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CAE8ECD-52EF-1575-578B-C8AF6AF89CD6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Определение самой платежеспособной группы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969F200-791B-2F74-3F05-601DF7583676}"/>
              </a:ext>
            </a:extLst>
          </p:cNvPr>
          <p:cNvSpPr/>
          <p:nvPr/>
        </p:nvSpPr>
        <p:spPr>
          <a:xfrm>
            <a:off x="9812215" y="735106"/>
            <a:ext cx="2379785" cy="6122894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Группа 26-30 лет демонстрирует наибольшую среднюю месячную выручку ($12.64) несмотря на меньшее количество клиентов (423 человека). </a:t>
            </a:r>
          </a:p>
        </p:txBody>
      </p:sp>
    </p:spTree>
    <p:extLst>
      <p:ext uri="{BB962C8B-B14F-4D97-AF65-F5344CB8AC3E}">
        <p14:creationId xmlns:p14="http://schemas.microsoft.com/office/powerpoint/2010/main" val="278759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DC4CDCE-1A75-6741-48F6-72CB9ACA4CF3}"/>
              </a:ext>
            </a:extLst>
          </p:cNvPr>
          <p:cNvSpPr/>
          <p:nvPr/>
        </p:nvSpPr>
        <p:spPr>
          <a:xfrm>
            <a:off x="0" y="0"/>
            <a:ext cx="12192000" cy="735106"/>
          </a:xfrm>
          <a:prstGeom prst="rect">
            <a:avLst/>
          </a:prstGeom>
          <a:solidFill>
            <a:srgbClr val="CC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i="1" u="sng" dirty="0">
                <a:solidFill>
                  <a:srgbClr val="0033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типа тарифа от страны пользователя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160D178-8C9A-AD0C-3727-6C3E719ED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004046"/>
            <a:ext cx="9706707" cy="5853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084CED4-19CF-772D-594C-098CE9106985}"/>
              </a:ext>
            </a:extLst>
          </p:cNvPr>
          <p:cNvSpPr/>
          <p:nvPr/>
        </p:nvSpPr>
        <p:spPr>
          <a:xfrm>
            <a:off x="9970477" y="735106"/>
            <a:ext cx="2221523" cy="6122894"/>
          </a:xfrm>
          <a:prstGeom prst="rect">
            <a:avLst/>
          </a:prstGeom>
          <a:solidFill>
            <a:srgbClr val="CC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002060"/>
                </a:solidFill>
              </a:rPr>
              <a:t>Географическое неравенство в монетизации: премиум-сегмент концентрируется в Европе (Франция — 80% Premium, Испания — 47%), тогда как латиноамериканские рынки (Мексика, Бразилия) демонстрируют почти полное доминирование базовых тарифов (&gt;95%</a:t>
            </a:r>
          </a:p>
        </p:txBody>
      </p:sp>
    </p:spTree>
    <p:extLst>
      <p:ext uri="{BB962C8B-B14F-4D97-AF65-F5344CB8AC3E}">
        <p14:creationId xmlns:p14="http://schemas.microsoft.com/office/powerpoint/2010/main" val="15083175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Picture background">
            <a:extLst>
              <a:ext uri="{FF2B5EF4-FFF2-40B4-BE49-F238E27FC236}">
                <a16:creationId xmlns:a16="http://schemas.microsoft.com/office/drawing/2014/main" id="{0FD1D2A0-DA7C-A7BF-89CB-86A4AE87B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65CEE8-9E3C-8A20-E8BC-2CD4BE5D02B6}"/>
              </a:ext>
            </a:extLst>
          </p:cNvPr>
          <p:cNvSpPr txBox="1"/>
          <p:nvPr/>
        </p:nvSpPr>
        <p:spPr>
          <a:xfrm>
            <a:off x="5827059" y="0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Спасибо за внимание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0B94A82-EC5C-CB89-8E12-98F1186CE1A8}"/>
              </a:ext>
            </a:extLst>
          </p:cNvPr>
          <p:cNvSpPr/>
          <p:nvPr/>
        </p:nvSpPr>
        <p:spPr>
          <a:xfrm>
            <a:off x="3214255" y="5911273"/>
            <a:ext cx="5920510" cy="6557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Коробкова Мария</a:t>
            </a:r>
          </a:p>
          <a:p>
            <a:pPr algn="ctr"/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maria.vesna79@gmail.com</a:t>
            </a:r>
            <a:r>
              <a:rPr lang="ru-RU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342821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338</Words>
  <Application>Microsoft Office PowerPoint</Application>
  <PresentationFormat>Широкоэкранный</PresentationFormat>
  <Paragraphs>27</Paragraphs>
  <Slides>15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zolotay79@gmail.com</dc:creator>
  <cp:lastModifiedBy>zolotay79@gmail.com</cp:lastModifiedBy>
  <cp:revision>3</cp:revision>
  <dcterms:created xsi:type="dcterms:W3CDTF">2026-02-19T19:58:42Z</dcterms:created>
  <dcterms:modified xsi:type="dcterms:W3CDTF">2026-02-22T10:28:03Z</dcterms:modified>
</cp:coreProperties>
</file>