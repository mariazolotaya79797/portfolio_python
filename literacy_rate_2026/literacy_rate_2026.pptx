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4" r:id="rId5"/>
    <p:sldId id="260" r:id="rId6"/>
    <p:sldId id="265" r:id="rId7"/>
    <p:sldId id="261" r:id="rId8"/>
    <p:sldId id="266" r:id="rId9"/>
    <p:sldId id="262" r:id="rId10"/>
    <p:sldId id="263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3E3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A84C66A0-9AB8-26C1-53FA-CE1BF4CD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3DA3BD-79A9-0691-B489-0846E17E6155}"/>
              </a:ext>
            </a:extLst>
          </p:cNvPr>
          <p:cNvSpPr/>
          <p:nvPr/>
        </p:nvSpPr>
        <p:spPr>
          <a:xfrm>
            <a:off x="795867" y="0"/>
            <a:ext cx="10600266" cy="17949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5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Глобальный уровень грамотности 2026 год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2AEC4-DFE5-2F6C-4C26-911EBB1971AD}"/>
              </a:ext>
            </a:extLst>
          </p:cNvPr>
          <p:cNvSpPr txBox="1"/>
          <p:nvPr/>
        </p:nvSpPr>
        <p:spPr>
          <a:xfrm>
            <a:off x="1" y="621166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 в рамках курса по анализу данных  </a:t>
            </a:r>
          </a:p>
        </p:txBody>
      </p:sp>
    </p:spTree>
    <p:extLst>
      <p:ext uri="{BB962C8B-B14F-4D97-AF65-F5344CB8AC3E}">
        <p14:creationId xmlns:p14="http://schemas.microsoft.com/office/powerpoint/2010/main" val="3591842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870CA11-E5AF-77C3-BCC4-FDA59F2CD638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Глобальная статистика по грамотности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422040-4B3D-1210-BE4A-0E29B4C1B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728132"/>
            <a:ext cx="6959600" cy="612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07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70F9219-9F26-FA58-9DF0-8D0342B9B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" y="2015067"/>
            <a:ext cx="12192000" cy="484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46929B-6094-663C-AE18-1901ABF839DB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Глобальная статистика по грамотности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2CE2CD-B1C7-E4D6-825B-37EACCC322DD}"/>
              </a:ext>
            </a:extLst>
          </p:cNvPr>
          <p:cNvSpPr/>
          <p:nvPr/>
        </p:nvSpPr>
        <p:spPr>
          <a:xfrm>
            <a:off x="16933" y="728133"/>
            <a:ext cx="12175068" cy="11345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видим страны с почти всеобщей грамотностью (95-100%) и страны с серьёзными проблемами в образовании (&lt;70%)</a:t>
            </a:r>
          </a:p>
        </p:txBody>
      </p:sp>
    </p:spTree>
    <p:extLst>
      <p:ext uri="{BB962C8B-B14F-4D97-AF65-F5344CB8AC3E}">
        <p14:creationId xmlns:p14="http://schemas.microsoft.com/office/powerpoint/2010/main" val="1583770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624D84-6529-3D9C-C0DB-008C335D86EE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по регионам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4E2489-9638-F71C-8B44-E18798B18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999" y="1016001"/>
            <a:ext cx="8195733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6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B44674D-4213-6829-3B7B-282B95AC5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4425"/>
            <a:ext cx="5706533" cy="405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6EF5E91-FE7E-A037-D32B-AE8DEDD63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384424"/>
            <a:ext cx="6096001" cy="434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18469B7-E5D1-5571-C919-2B3B53F02D8C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 по регионам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29D138-57FD-0EDB-A42D-278E5D4BBB0A}"/>
              </a:ext>
            </a:extLst>
          </p:cNvPr>
          <p:cNvSpPr/>
          <p:nvPr/>
        </p:nvSpPr>
        <p:spPr>
          <a:xfrm>
            <a:off x="0" y="728133"/>
            <a:ext cx="12192000" cy="13377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Выражена четкая региональная поляризация: Европа (99.2%) и Дальний Восток (98.6%) достигли практически всеобщей грамотности с минимальным разбросом, в то время как Африка (67.7%) и Субконтинент (75.6%) критически отстают. </a:t>
            </a:r>
          </a:p>
        </p:txBody>
      </p:sp>
    </p:spTree>
    <p:extLst>
      <p:ext uri="{BB962C8B-B14F-4D97-AF65-F5344CB8AC3E}">
        <p14:creationId xmlns:p14="http://schemas.microsoft.com/office/powerpoint/2010/main" val="342696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378C71-BE45-26D4-BE14-C5941D867E95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стран: лидеры и аутсайдеры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89883C-10AC-1B6A-2822-F71C57B0E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75" y="1187625"/>
            <a:ext cx="5449060" cy="361285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D431A6-3D84-8E68-13F9-D7A8AEBA3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187625"/>
            <a:ext cx="5449059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61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E14A037-1A9D-4A68-E1CF-5636CA8F9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2533"/>
            <a:ext cx="12192000" cy="521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8F7753-3043-813F-3EAB-2BB83C8DBF50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стран: лидеры и аутсайдеры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3C3F3E-25AB-15D8-18C0-2122DE1DA4AC}"/>
              </a:ext>
            </a:extLst>
          </p:cNvPr>
          <p:cNvSpPr/>
          <p:nvPr/>
        </p:nvSpPr>
        <p:spPr>
          <a:xfrm>
            <a:off x="0" y="728133"/>
            <a:ext cx="12192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Разрыв в 78 процентных пунктов между лидерами и аутсайдерами отражает критическое неравенство в доступе к образованию в мировом масштабе.</a:t>
            </a:r>
          </a:p>
        </p:txBody>
      </p:sp>
    </p:spTree>
    <p:extLst>
      <p:ext uri="{BB962C8B-B14F-4D97-AF65-F5344CB8AC3E}">
        <p14:creationId xmlns:p14="http://schemas.microsoft.com/office/powerpoint/2010/main" val="427730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B4856D-729D-5343-5CD6-65C7D8A491C4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Мировая карта грамотности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FCF93F-973E-E550-A094-A1B40E27F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934" y="937234"/>
            <a:ext cx="5977466" cy="592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2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98CF75-3A32-6082-A920-BF7F4BCF5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67" y="1828799"/>
            <a:ext cx="9736666" cy="4707467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EA0FA5-AA37-831D-1C3F-79009E797019}"/>
              </a:ext>
            </a:extLst>
          </p:cNvPr>
          <p:cNvSpPr/>
          <p:nvPr/>
        </p:nvSpPr>
        <p:spPr>
          <a:xfrm>
            <a:off x="-16934" y="0"/>
            <a:ext cx="12225867" cy="728133"/>
          </a:xfrm>
          <a:prstGeom prst="rect">
            <a:avLst/>
          </a:prstGeom>
          <a:solidFill>
            <a:srgbClr val="CFD3E3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Мировая карта грамотности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260EE7A-9F21-7056-315E-34FE723D47B2}"/>
              </a:ext>
            </a:extLst>
          </p:cNvPr>
          <p:cNvSpPr/>
          <p:nvPr/>
        </p:nvSpPr>
        <p:spPr>
          <a:xfrm>
            <a:off x="0" y="728133"/>
            <a:ext cx="12192000" cy="1100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Карта наглядно демонстрирует чёткое разделение мира: развитые регионы (Европа, Северная Америка, Дальний Восток, Австралия) 90-100% грамотности, в то время как экваториальная Африка выделяется красными и оранжевыми оттенками (20-50%), что указывает на критический образовательный кризис.</a:t>
            </a:r>
          </a:p>
        </p:txBody>
      </p:sp>
    </p:spTree>
    <p:extLst>
      <p:ext uri="{BB962C8B-B14F-4D97-AF65-F5344CB8AC3E}">
        <p14:creationId xmlns:p14="http://schemas.microsoft.com/office/powerpoint/2010/main" val="57556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635BB48C-5B34-6C0B-071F-1EBA6ECEC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93FDC7-36C0-0843-FA23-575745CCD3E9}"/>
              </a:ext>
            </a:extLst>
          </p:cNvPr>
          <p:cNvSpPr/>
          <p:nvPr/>
        </p:nvSpPr>
        <p:spPr>
          <a:xfrm>
            <a:off x="1066800" y="-33867"/>
            <a:ext cx="10210800" cy="143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72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C6A01D-664F-2487-5863-02EACAE05E74}"/>
              </a:ext>
            </a:extLst>
          </p:cNvPr>
          <p:cNvSpPr/>
          <p:nvPr/>
        </p:nvSpPr>
        <p:spPr>
          <a:xfrm>
            <a:off x="7602583" y="6008914"/>
            <a:ext cx="4354286" cy="722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7207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183</Words>
  <Application>Microsoft Office PowerPoint</Application>
  <PresentationFormat>Широкоэкранный</PresentationFormat>
  <Paragraphs>17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</dc:creator>
  <cp:lastModifiedBy>zolotay79@gmail.com</cp:lastModifiedBy>
  <cp:revision>3</cp:revision>
  <dcterms:created xsi:type="dcterms:W3CDTF">2025-07-18T20:36:51Z</dcterms:created>
  <dcterms:modified xsi:type="dcterms:W3CDTF">2026-02-22T10:29:36Z</dcterms:modified>
</cp:coreProperties>
</file>